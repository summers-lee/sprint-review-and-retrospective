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60" r:id="rId2"/>
    <p:sldId id="257" r:id="rId3"/>
    <p:sldId id="263" r:id="rId4"/>
    <p:sldId id="264" r:id="rId5"/>
    <p:sldId id="265" r:id="rId6"/>
    <p:sldId id="261" r:id="rId7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4E"/>
    <a:srgbClr val="009DEA"/>
    <a:srgbClr val="FDB91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327"/>
    <p:restoredTop sz="96327"/>
  </p:normalViewPr>
  <p:slideViewPr>
    <p:cSldViewPr snapToGrid="0">
      <p:cViewPr varScale="1">
        <p:scale>
          <a:sx n="29" d="100"/>
          <a:sy n="29" d="100"/>
        </p:scale>
        <p:origin x="328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E76C-3580-F069-19ED-223502F1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A970-A7F1-18BE-35DE-FE33D08C4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406" y="4898571"/>
            <a:ext cx="9231539" cy="15716478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00244E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B027F5-5C25-0343-6F31-C74A91C6C90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984722" y="4887685"/>
            <a:ext cx="9231539" cy="15716478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00244E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4CBA10-9BDD-097A-2E4B-6C9D362BFDE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2652721" y="4887685"/>
            <a:ext cx="9231539" cy="15716478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00244E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411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B20BE8F8-6B29-5DC0-F7E0-35E03EB7B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2918400" cy="219456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1F16A-12DC-C350-B2B8-EB9DE08E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8363" y="1152597"/>
            <a:ext cx="22882222" cy="1737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507B9-2587-3EC1-F800-89375AE78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1406" y="6053180"/>
            <a:ext cx="192246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</p:txBody>
      </p:sp>
      <p:pic>
        <p:nvPicPr>
          <p:cNvPr id="9" name="Picture 8" descr="Southern New Hampshire University logo_wordmark_reversed">
            <a:extLst>
              <a:ext uri="{FF2B5EF4-FFF2-40B4-BE49-F238E27FC236}">
                <a16:creationId xmlns:a16="http://schemas.microsoft.com/office/drawing/2014/main" id="{CC4931C8-89C1-40FF-8161-5FE597A868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6879" y="363472"/>
            <a:ext cx="7299578" cy="316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500" b="1" i="0" kern="1200">
          <a:solidFill>
            <a:srgbClr val="FDB913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5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4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0" userDrawn="1">
          <p15:clr>
            <a:srgbClr val="F26B43"/>
          </p15:clr>
        </p15:guide>
        <p15:guide id="2" pos="10368" userDrawn="1">
          <p15:clr>
            <a:srgbClr val="F26B43"/>
          </p15:clr>
        </p15:guide>
        <p15:guide id="3" orient="horz" pos="2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rumguides.org/" TargetMode="External"/><Relationship Id="rId2" Type="http://schemas.openxmlformats.org/officeDocument/2006/relationships/hyperlink" Target="https://www.atlassian.com/agile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teofagi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4503-052D-5350-AA69-21B19039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7101" y="7120386"/>
            <a:ext cx="10004197" cy="1737562"/>
          </a:xfrm>
        </p:spPr>
        <p:txBody>
          <a:bodyPr/>
          <a:lstStyle/>
          <a:p>
            <a:r>
              <a:rPr lang="en-US" dirty="0"/>
              <a:t>Agile at SNHU Travel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BFB974-6F91-AADF-925E-6A2CC68CAFA2}"/>
              </a:ext>
            </a:extLst>
          </p:cNvPr>
          <p:cNvSpPr txBox="1">
            <a:spLocks/>
          </p:cNvSpPr>
          <p:nvPr/>
        </p:nvSpPr>
        <p:spPr>
          <a:xfrm>
            <a:off x="16459199" y="9570455"/>
            <a:ext cx="10004197" cy="1737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500" b="1" i="0" kern="1200">
                <a:solidFill>
                  <a:srgbClr val="FDB91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6500" dirty="0"/>
              <a:t>Aaron Summers</a:t>
            </a:r>
          </a:p>
        </p:txBody>
      </p:sp>
      <p:pic>
        <p:nvPicPr>
          <p:cNvPr id="10" name="Picture 9" descr="A city skyline with a bridge and street lights&#10;&#10;AI-generated content may be incorrect.">
            <a:extLst>
              <a:ext uri="{FF2B5EF4-FFF2-40B4-BE49-F238E27FC236}">
                <a16:creationId xmlns:a16="http://schemas.microsoft.com/office/drawing/2014/main" id="{EA033FF5-A0F2-7936-946C-D285CD204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14200"/>
            <a:ext cx="13241867" cy="993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CD58-D6B9-9717-339A-32CD1C79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Roles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B473A-9826-4CEB-2615-637D59136C7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77900" y="4862285"/>
            <a:ext cx="30962600" cy="15716478"/>
          </a:xfrm>
        </p:spPr>
        <p:txBody>
          <a:bodyPr>
            <a:normAutofit/>
          </a:bodyPr>
          <a:lstStyle/>
          <a:p>
            <a:r>
              <a:rPr lang="en-US" sz="5400" b="1" dirty="0"/>
              <a:t>Product Owner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Defines user stories and acceptance criteria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Prioritizes the product backlog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Represents stakeholder and customer needs</a:t>
            </a:r>
          </a:p>
          <a:p>
            <a:r>
              <a:rPr lang="en-US" sz="5400" b="1" dirty="0"/>
              <a:t>Scrum Master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Encourages the team on agile principles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Removes impediments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Facilitates Scrum Events</a:t>
            </a:r>
          </a:p>
          <a:p>
            <a:r>
              <a:rPr lang="en-US" sz="5400" b="1" dirty="0"/>
              <a:t>Developer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Self organizing and accountable for meeting sprint goals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responsible for the design development, and delivery</a:t>
            </a:r>
          </a:p>
          <a:p>
            <a:r>
              <a:rPr lang="en-US" sz="5400" b="1" dirty="0"/>
              <a:t>Tester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Develops and executes test cases throughout each sprint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	identifies defects early and provides rapid feedback</a:t>
            </a:r>
          </a:p>
        </p:txBody>
      </p:sp>
    </p:spTree>
    <p:extLst>
      <p:ext uri="{BB962C8B-B14F-4D97-AF65-F5344CB8AC3E}">
        <p14:creationId xmlns:p14="http://schemas.microsoft.com/office/powerpoint/2010/main" val="359540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88D9-D1A3-3560-5CB0-B76AD100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CF2B-3193-AC1D-1FFF-BFFB7DBE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Phases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41E08-32FB-7327-CE9E-3015D0895F6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77900" y="4862285"/>
            <a:ext cx="30962600" cy="15716478"/>
          </a:xfrm>
        </p:spPr>
        <p:txBody>
          <a:bodyPr/>
          <a:lstStyle/>
          <a:p>
            <a:r>
              <a:rPr lang="en-US" sz="5400" b="1" dirty="0"/>
              <a:t>Concept &amp; 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High level requirements identified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User Stories created and prioritized</a:t>
            </a:r>
          </a:p>
          <a:p>
            <a:r>
              <a:rPr lang="en-US" sz="5400" b="1" dirty="0"/>
              <a:t>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Iterative in nature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Updated once feedback is given</a:t>
            </a:r>
          </a:p>
          <a:p>
            <a:r>
              <a:rPr lang="en-US" sz="5400" b="1" dirty="0"/>
              <a:t>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Work completed in short Sprints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Functional increments delivered regularly</a:t>
            </a:r>
          </a:p>
          <a:p>
            <a:r>
              <a:rPr lang="en-US" sz="5400" b="1" dirty="0"/>
              <a:t>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Involved at each level of the Sprint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Continuous feedback and defect resolution</a:t>
            </a:r>
          </a:p>
          <a:p>
            <a:r>
              <a:rPr lang="en-US" sz="5400" b="1" dirty="0"/>
              <a:t>Review &amp; Deployment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Sprint reviews with stakeholders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Deploying product incrementally</a:t>
            </a:r>
          </a:p>
          <a:p>
            <a:r>
              <a:rPr lang="en-US" sz="5400" b="1" dirty="0"/>
              <a:t>Maintenance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/>
              <a:t>Backlog refinement and ongoing improvements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48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960F-0739-92CE-5B96-C7E14A4E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0856-8867-EA28-EAE9-DFFD6923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Differences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C5A95-8397-6EE5-3B4B-C5998D3825B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77900" y="4862285"/>
            <a:ext cx="30962600" cy="15716478"/>
          </a:xfrm>
        </p:spPr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Sequential and done in linear phases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Limited stakeholder feedback between requirements and deployment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Changes are costly and difficult once development starts</a:t>
            </a:r>
          </a:p>
          <a:p>
            <a:r>
              <a:rPr lang="en-US" sz="6000" b="1" dirty="0"/>
              <a:t>Problem - The updates we had to user stories during or SNHU Travel update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Under Agile it was a smooth process of just updating User Stories and Test cases so our Developers could pivot to the new goal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Under waterfall the same changes might have required revisiting completed documentation and reworking entire phases</a:t>
            </a:r>
          </a:p>
        </p:txBody>
      </p:sp>
    </p:spTree>
    <p:extLst>
      <p:ext uri="{BB962C8B-B14F-4D97-AF65-F5344CB8AC3E}">
        <p14:creationId xmlns:p14="http://schemas.microsoft.com/office/powerpoint/2010/main" val="21663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0178-B58E-E553-A071-BFBB148B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B154-71A7-989B-73C2-EBF01BB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or Waterfall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7B842-1BB7-9022-A841-E85E91D3A93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77900" y="4862285"/>
            <a:ext cx="30962600" cy="15716478"/>
          </a:xfrm>
        </p:spPr>
        <p:txBody>
          <a:bodyPr/>
          <a:lstStyle/>
          <a:p>
            <a:r>
              <a:rPr lang="en-US" sz="6000" b="1" dirty="0"/>
              <a:t>Project complexity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Agile suits complex evolving projects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Waterfall suits well defined and predictable projects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6000" b="1" dirty="0"/>
              <a:t>Stakeholder Involvement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Agile requires frequent collaboration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Waterfall requires minimal ongoing involvement</a:t>
            </a:r>
          </a:p>
          <a:p>
            <a:r>
              <a:rPr lang="en-US" sz="6000" b="1" dirty="0"/>
              <a:t>Risk &amp; Uncertainty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Agile reduces risk through incremental delivery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Waterfall increases risk if early assumptions are wrong</a:t>
            </a:r>
          </a:p>
          <a:p>
            <a:r>
              <a:rPr lang="en-US" sz="6000" b="1" dirty="0"/>
              <a:t>Conclusion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Agile offers flexibility, collaboration, and continuous improvement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Waterfall offers structure but lacks flexibility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For this SNHU Travel project Agile is the best method because of all the Pros!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6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C747-549B-9B13-D878-0CD49D53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E70A6C5-AEF4-3DB3-209A-DF4D1D766B91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431370" y="4419844"/>
            <a:ext cx="26055659" cy="49398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Atlassian. (2023). </a:t>
            </a:r>
            <a:r>
              <a:rPr kumimoji="0" lang="en-US" altLang="en-US" sz="4500" b="0" i="1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Agile project management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. 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  <a:hlinkClick r:id="rId2"/>
              </a:rPr>
              <a:t>https://www.atlassian.com/agile</a:t>
            </a:r>
            <a:endParaRPr kumimoji="0" lang="en-US" altLang="en-US" sz="4500" b="0" i="0" u="none" strike="noStrike" cap="none" normalizeH="0" dirty="0">
              <a:ln>
                <a:noFill/>
              </a:ln>
              <a:solidFill>
                <a:srgbClr val="FDB913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500" b="0" i="0" u="none" strike="noStrike" cap="none" normalizeH="0" dirty="0">
              <a:ln>
                <a:noFill/>
              </a:ln>
              <a:solidFill>
                <a:srgbClr val="FDB913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Project Management Institute. (2021). </a:t>
            </a:r>
            <a:r>
              <a:rPr kumimoji="0" lang="en-US" altLang="en-US" sz="4500" b="0" i="1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Agile practice guide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 (2nd ed.). Project Management Institute.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500" b="0" i="0" u="none" strike="noStrike" cap="none" normalizeH="0" dirty="0">
              <a:ln>
                <a:noFill/>
              </a:ln>
              <a:solidFill>
                <a:srgbClr val="FDB913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Schwaber, K., &amp; Sutherland, J. (2020). </a:t>
            </a:r>
            <a:r>
              <a:rPr kumimoji="0" lang="en-US" altLang="en-US" sz="4500" b="0" i="1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The Scrum guide: The definitive guide to Scrum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. 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  <a:hlinkClick r:id="rId3"/>
              </a:rPr>
              <a:t>https://scrumguides.org</a:t>
            </a:r>
            <a:endParaRPr kumimoji="0" lang="en-US" altLang="en-US" sz="4500" b="0" i="0" u="none" strike="noStrike" cap="none" normalizeH="0" dirty="0">
              <a:ln>
                <a:noFill/>
              </a:ln>
              <a:solidFill>
                <a:srgbClr val="FDB913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500" b="0" i="0" u="none" strike="noStrike" cap="none" normalizeH="0" dirty="0">
              <a:ln>
                <a:noFill/>
              </a:ln>
              <a:solidFill>
                <a:srgbClr val="FDB913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VersionOne. (2023). </a:t>
            </a:r>
            <a:r>
              <a:rPr kumimoji="0" lang="en-US" altLang="en-US" sz="4500" b="0" i="1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17th annual state of Agile report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</a:rPr>
              <a:t>. </a:t>
            </a:r>
            <a:r>
              <a:rPr kumimoji="0" lang="en-US" altLang="en-US" sz="4500" b="0" i="0" u="none" strike="noStrike" cap="none" normalizeH="0" dirty="0">
                <a:ln>
                  <a:noFill/>
                </a:ln>
                <a:solidFill>
                  <a:srgbClr val="FDB913"/>
                </a:solidFill>
                <a:effectLst/>
                <a:latin typeface="Times New Roman" panose="02020603050405020304" pitchFamily="18" charset="0"/>
                <a:hlinkClick r:id="rId4"/>
              </a:rPr>
              <a:t>https://stateofagile.com</a:t>
            </a:r>
            <a:endParaRPr kumimoji="0" lang="en-US" altLang="en-US" sz="4500" b="0" i="0" u="none" strike="noStrike" cap="none" normalizeH="0" dirty="0">
              <a:ln>
                <a:noFill/>
              </a:ln>
              <a:solidFill>
                <a:srgbClr val="FDB913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09376"/>
      </p:ext>
    </p:extLst>
  </p:cSld>
  <p:clrMapOvr>
    <a:masterClrMapping/>
  </p:clrMapOvr>
</p:sld>
</file>

<file path=ppt/theme/theme1.xml><?xml version="1.0" encoding="utf-8"?>
<a:theme xmlns:a="http://schemas.openxmlformats.org/drawingml/2006/main" name="36x24 Layout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1661</TotalTime>
  <Words>377</Words>
  <Application>Microsoft Macintosh PowerPoint</Application>
  <PresentationFormat>Custom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36x24 Layout 2</vt:lpstr>
      <vt:lpstr>Agile at SNHU Travel</vt:lpstr>
      <vt:lpstr>Agile Roles</vt:lpstr>
      <vt:lpstr>Agile Phases</vt:lpstr>
      <vt:lpstr>Waterfall Differences</vt:lpstr>
      <vt:lpstr>Agile or Waterfall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Arabudzki, Krysta</dc:creator>
  <cp:lastModifiedBy>Summers, Aaron</cp:lastModifiedBy>
  <cp:revision>8</cp:revision>
  <cp:lastPrinted>2022-10-28T03:46:16Z</cp:lastPrinted>
  <dcterms:created xsi:type="dcterms:W3CDTF">2022-10-28T03:34:05Z</dcterms:created>
  <dcterms:modified xsi:type="dcterms:W3CDTF">2025-12-15T02:57:02Z</dcterms:modified>
</cp:coreProperties>
</file>